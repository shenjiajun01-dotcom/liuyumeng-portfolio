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3"/>
  </p:sldIdLst>
  <p:sldSz cx="7556500" cy="10693400"/>
  <p:notesSz cx="6858000" cy="9144000"/>
  <p:embeddedFontLst>
    <p:embeddedFont>
      <p:font typeface="Artifakt Element" panose="020B0503050000020004" charset="0"/>
      <p:regular r:id="rId7"/>
      <p:bold r:id="rId8"/>
      <p:italic r:id="rId9"/>
      <p:boldItalic r:id="rId10"/>
    </p:embeddedFont>
    <p:embeddedFont>
      <p:font typeface="Calibri" panose="020F050202020403020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531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pos="43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57"/>
        <p:guide pos="531"/>
        <p:guide orient="horz" pos="1122"/>
        <p:guide pos="43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320" cy="7632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font" Target="fonts/font8.fntdata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536315" y="630555"/>
            <a:ext cx="4023360" cy="183515"/>
            <a:chOff x="0" y="0"/>
            <a:chExt cx="9375377" cy="460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75377" cy="460773"/>
            </a:xfrm>
            <a:custGeom>
              <a:avLst/>
              <a:gdLst/>
              <a:ahLst/>
              <a:cxnLst/>
              <a:rect l="l" t="t" r="r" b="b"/>
              <a:pathLst>
                <a:path w="9375377" h="460773">
                  <a:moveTo>
                    <a:pt x="0" y="0"/>
                  </a:moveTo>
                  <a:lnTo>
                    <a:pt x="9375377" y="0"/>
                  </a:lnTo>
                  <a:lnTo>
                    <a:pt x="9375377" y="460773"/>
                  </a:lnTo>
                  <a:lnTo>
                    <a:pt x="0" y="460773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375377" cy="479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649065" y="1103260"/>
            <a:ext cx="270696" cy="234817"/>
            <a:chOff x="0" y="0"/>
            <a:chExt cx="360928" cy="313089"/>
          </a:xfrm>
        </p:grpSpPr>
        <p:grpSp>
          <p:nvGrpSpPr>
            <p:cNvPr id="21" name="Group 21"/>
            <p:cNvGrpSpPr/>
            <p:nvPr/>
          </p:nvGrpSpPr>
          <p:grpSpPr>
            <a:xfrm rot="5400000">
              <a:off x="0" y="0"/>
              <a:ext cx="235352" cy="235352"/>
              <a:chOff x="0" y="0"/>
              <a:chExt cx="110403" cy="11040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125576" y="77738"/>
              <a:ext cx="235352" cy="235352"/>
              <a:chOff x="0" y="0"/>
              <a:chExt cx="110403" cy="11040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0">
            <a:off x="663035" y="1978457"/>
            <a:ext cx="270696" cy="234817"/>
            <a:chOff x="0" y="0"/>
            <a:chExt cx="360928" cy="313089"/>
          </a:xfrm>
        </p:grpSpPr>
        <p:grpSp>
          <p:nvGrpSpPr>
            <p:cNvPr id="28" name="Group 28"/>
            <p:cNvGrpSpPr/>
            <p:nvPr/>
          </p:nvGrpSpPr>
          <p:grpSpPr>
            <a:xfrm rot="5400000">
              <a:off x="0" y="0"/>
              <a:ext cx="235352" cy="235352"/>
              <a:chOff x="0" y="0"/>
              <a:chExt cx="110403" cy="11040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5400000">
              <a:off x="125576" y="77738"/>
              <a:ext cx="235352" cy="235352"/>
              <a:chOff x="0" y="0"/>
              <a:chExt cx="110403" cy="11040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 rot="0">
            <a:off x="663670" y="3958718"/>
            <a:ext cx="270696" cy="234817"/>
            <a:chOff x="0" y="0"/>
            <a:chExt cx="360928" cy="313089"/>
          </a:xfrm>
        </p:grpSpPr>
        <p:grpSp>
          <p:nvGrpSpPr>
            <p:cNvPr id="35" name="Group 35"/>
            <p:cNvGrpSpPr/>
            <p:nvPr/>
          </p:nvGrpSpPr>
          <p:grpSpPr>
            <a:xfrm rot="5400000">
              <a:off x="0" y="0"/>
              <a:ext cx="235352" cy="235352"/>
              <a:chOff x="0" y="0"/>
              <a:chExt cx="110403" cy="11040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5400000">
              <a:off x="125576" y="77738"/>
              <a:ext cx="235352" cy="235352"/>
              <a:chOff x="0" y="0"/>
              <a:chExt cx="110403" cy="11040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 rot="0">
            <a:off x="663670" y="2845759"/>
            <a:ext cx="270696" cy="234817"/>
            <a:chOff x="0" y="0"/>
            <a:chExt cx="360928" cy="313089"/>
          </a:xfrm>
        </p:grpSpPr>
        <p:grpSp>
          <p:nvGrpSpPr>
            <p:cNvPr id="42" name="Group 42"/>
            <p:cNvGrpSpPr/>
            <p:nvPr/>
          </p:nvGrpSpPr>
          <p:grpSpPr>
            <a:xfrm rot="5400000">
              <a:off x="0" y="0"/>
              <a:ext cx="235352" cy="235352"/>
              <a:chOff x="0" y="0"/>
              <a:chExt cx="110403" cy="11040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5400000">
              <a:off x="125576" y="77738"/>
              <a:ext cx="235352" cy="235352"/>
              <a:chOff x="0" y="0"/>
              <a:chExt cx="110403" cy="11040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</p:grpSp>
      <p:sp>
        <p:nvSpPr>
          <p:cNvPr id="55" name="TextBox 55"/>
          <p:cNvSpPr txBox="1"/>
          <p:nvPr/>
        </p:nvSpPr>
        <p:spPr>
          <a:xfrm>
            <a:off x="1001803" y="1932102"/>
            <a:ext cx="1029210" cy="29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1550" b="1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教育背景</a:t>
            </a:r>
            <a:endParaRPr lang="en-US" sz="1550" b="1">
              <a:solidFill>
                <a:srgbClr val="000000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712583" y="2235280"/>
            <a:ext cx="1646014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2022.09-2026.06</a:t>
            </a:r>
            <a:endParaRPr 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2903796" y="2235280"/>
            <a:ext cx="1484957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宁波</a:t>
            </a:r>
            <a:r>
              <a:rPr 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大学</a:t>
            </a: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（本科）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4969721" y="2235200"/>
            <a:ext cx="195262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环境艺术设计（景观</a:t>
            </a: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方向）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877461" y="2033151"/>
            <a:ext cx="2824644" cy="20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000">
                <a:solidFill>
                  <a:srgbClr val="000000"/>
                </a:solidFill>
                <a:latin typeface="Artifakt Element" panose="020B0503050000020004" charset="0"/>
                <a:ea typeface="Akzidenz-Grotesk" panose="02000503030000020003"/>
                <a:cs typeface="Artifakt Element" panose="020B0503050000020004" charset="0"/>
                <a:sym typeface="Akzidenz-Grotesk" panose="02000503030000020003"/>
              </a:rPr>
              <a:t>EDUCATIONAL BACKGROUND</a:t>
            </a:r>
            <a:endParaRPr lang="en-US" sz="1000">
              <a:solidFill>
                <a:srgbClr val="000000"/>
              </a:solidFill>
              <a:latin typeface="Artifakt Element" panose="020B0503050000020004" charset="0"/>
              <a:ea typeface="Akzidenz-Grotesk" panose="02000503030000020003"/>
              <a:cs typeface="Artifakt Element" panose="020B0503050000020004" charset="0"/>
              <a:sym typeface="Akzidenz-Grotesk" panose="02000503030000020003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002438" y="3896819"/>
            <a:ext cx="1029210" cy="29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en-US" sz="1550" b="1" u="none" strike="noStrike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实习经历</a:t>
            </a:r>
            <a:endParaRPr lang="en-US" sz="1550" b="1" u="none" strike="noStrike">
              <a:solidFill>
                <a:srgbClr val="000000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713105" y="6185888"/>
            <a:ext cx="6120337" cy="725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42570" lvl="1" indent="-121285" algn="l">
              <a:lnSpc>
                <a:spcPts val="1885"/>
              </a:lnSpc>
              <a:buFont typeface="Arial" panose="020B0604020202020204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负责暑期幼儿园室内各主题环创设计。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242570" lvl="1" indent="-121285" algn="l">
              <a:lnSpc>
                <a:spcPts val="1885"/>
              </a:lnSpc>
              <a:buFont typeface="Arial" panose="020B0604020202020204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协助教学美术，手工等艺术课程。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121285" lvl="1" indent="0" algn="l">
              <a:lnSpc>
                <a:spcPts val="1885"/>
              </a:lnSpc>
              <a:buFont typeface="Arial" panose="020B0604020202020204"/>
              <a:buNone/>
            </a:pPr>
            <a:endParaRPr lang="en-US" sz="112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713218" y="5999912"/>
            <a:ext cx="1646014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2024.06-2024.08</a:t>
            </a:r>
            <a:endParaRPr 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2980690" y="6000115"/>
            <a:ext cx="2065020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武汉市江汉区维特幼儿园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5389245" y="6000115"/>
            <a:ext cx="153352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环创设计</a:t>
            </a:r>
            <a:r>
              <a:rPr lang="en-US" altLang="zh-CN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&amp;</a:t>
            </a: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美术幼师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892701" y="9160688"/>
            <a:ext cx="2824644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0"/>
              </a:lnSpc>
              <a:spcBef>
                <a:spcPct val="0"/>
              </a:spcBef>
            </a:pPr>
            <a:r>
              <a:rPr lang="en-US" altLang="zh-CN" sz="1000">
                <a:solidFill>
                  <a:srgbClr val="000000"/>
                </a:solidFill>
                <a:latin typeface="Artifakt Element" panose="020B0503050000020004" charset="0"/>
                <a:ea typeface="Akzidenz-Grotesk" panose="02000503030000020003"/>
                <a:cs typeface="Artifakt Element" panose="020B0503050000020004" charset="0"/>
                <a:sym typeface="Akzidenz-Grotesk" panose="02000503030000020003"/>
              </a:rPr>
              <a:t>PROFeESSIONAL SKILLS</a:t>
            </a:r>
            <a:endParaRPr lang="en-US" altLang="zh-CN" sz="1000">
              <a:solidFill>
                <a:srgbClr val="000000"/>
              </a:solidFill>
              <a:latin typeface="Artifakt Element" panose="020B0503050000020004" charset="0"/>
              <a:ea typeface="Akzidenz-Grotesk" panose="02000503030000020003"/>
              <a:cs typeface="Artifakt Element" panose="020B0503050000020004" charset="0"/>
              <a:sym typeface="Akzidenz-Grotesk" panose="02000503030000020003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002438" y="2774571"/>
            <a:ext cx="1029210" cy="29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en-US" sz="1550" b="1" u="none" strike="noStrike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校园经历</a:t>
            </a:r>
            <a:endParaRPr lang="en-US" sz="1550" b="1" u="none" strike="noStrike">
              <a:solidFill>
                <a:srgbClr val="000000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713218" y="3118489"/>
            <a:ext cx="1646014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2023.07 - 2024.07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2665730" y="3086100"/>
            <a:ext cx="102933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50"/>
              </a:lnSpc>
              <a:buClrTx/>
              <a:buSzTx/>
              <a:buFontTx/>
            </a:pPr>
            <a:r>
              <a:rPr lang="en-US" altLang="zh-CN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 </a:t>
            </a: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宁波大学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4021455" y="3118489"/>
            <a:ext cx="290131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潘天寿建筑与艺术设计学院美编部主席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713218" y="3335579"/>
            <a:ext cx="5289359" cy="48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2570" lvl="1" indent="-121285" algn="just">
              <a:lnSpc>
                <a:spcPts val="1885"/>
              </a:lnSpc>
              <a:buFont typeface="Arial" panose="020B0604020202020204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定期组织技能培训与团队建设活动海报制作。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242570" lvl="1" indent="-121285" algn="just">
              <a:lnSpc>
                <a:spcPts val="1885"/>
              </a:lnSpc>
              <a:buFont typeface="Arial" panose="020B0604020202020204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统筹策划校园大型活动宣传工作，包括迎新晚会、校园文化节等。</a:t>
            </a:r>
            <a:endParaRPr lang="en-US" sz="11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878096" y="2863923"/>
            <a:ext cx="2824644" cy="20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Artifakt Element" panose="020B0503050000020004" charset="0"/>
                <a:ea typeface="Akzidenz-Grotesk" panose="02000503030000020003"/>
                <a:cs typeface="Artifakt Element" panose="020B0503050000020004" charset="0"/>
                <a:sym typeface="Akzidenz-Grotesk" panose="02000503030000020003"/>
              </a:rPr>
              <a:t>CAMPUS EXPERIENCE</a:t>
            </a:r>
            <a:endParaRPr lang="en-US" sz="1000">
              <a:solidFill>
                <a:srgbClr val="000000"/>
              </a:solidFill>
              <a:latin typeface="Artifakt Element" panose="020B0503050000020004" charset="0"/>
              <a:ea typeface="Akzidenz-Grotesk" panose="02000503030000020003"/>
              <a:cs typeface="Artifakt Element" panose="020B0503050000020004" charset="0"/>
              <a:sym typeface="Akzidenz-Grotesk" panose="02000503030000020003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987833" y="1063311"/>
            <a:ext cx="1029210" cy="29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1550" b="1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个人信息</a:t>
            </a:r>
            <a:endParaRPr lang="en-US" sz="1550" b="1">
              <a:solidFill>
                <a:srgbClr val="000000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643286" y="1595466"/>
            <a:ext cx="1855468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1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出生年月：2004年5月</a:t>
            </a:r>
            <a:endParaRPr lang="en-US" sz="11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2848204" y="1572397"/>
            <a:ext cx="2040567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1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邮箱：2660438409@qq.com</a:t>
            </a:r>
            <a:endParaRPr lang="en-US" sz="11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2813716" y="1346337"/>
            <a:ext cx="1774186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1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手机号码：18627866502</a:t>
            </a:r>
            <a:endParaRPr lang="en-US" sz="11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643286" y="1365594"/>
            <a:ext cx="1441829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1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姓名：</a:t>
            </a:r>
            <a:r>
              <a:rPr lang="zh-CN" altLang="en-US" sz="11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刘雨朦</a:t>
            </a:r>
            <a:endParaRPr lang="zh-CN" altLang="en-US" sz="11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1878096" y="1154629"/>
            <a:ext cx="2824644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000">
                <a:solidFill>
                  <a:srgbClr val="000000"/>
                </a:solidFill>
                <a:latin typeface="Artifakt Element" panose="020B0503050000020004" charset="0"/>
                <a:ea typeface="Akzidenz-Grotesk" panose="02000503030000020003"/>
                <a:cs typeface="Artifakt Element" panose="020B0503050000020004" charset="0"/>
                <a:sym typeface="Akzidenz-Grotesk" panose="02000503030000020003"/>
              </a:rPr>
              <a:t>PERSONAL INFORMATION</a:t>
            </a:r>
            <a:endParaRPr lang="en-US" sz="1000">
              <a:solidFill>
                <a:srgbClr val="000000"/>
              </a:solidFill>
              <a:latin typeface="Artifakt Element" panose="020B0503050000020004" charset="0"/>
              <a:ea typeface="Akzidenz-Grotesk" panose="02000503030000020003"/>
              <a:cs typeface="Artifakt Element" panose="020B0503050000020004" charset="0"/>
              <a:sym typeface="Akzidenz-Grotesk" panose="02000503030000020003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2218918" y="538407"/>
            <a:ext cx="2193966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640" b="1">
                <a:solidFill>
                  <a:srgbClr val="000000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R E S U M E</a:t>
            </a:r>
            <a:endParaRPr lang="en-US" sz="1640" b="1">
              <a:solidFill>
                <a:srgbClr val="000000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633730" y="441325"/>
            <a:ext cx="1560195" cy="537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0"/>
              </a:lnSpc>
            </a:pPr>
            <a:r>
              <a:rPr lang="en-US" sz="2685" b="1" spc="85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个人简历</a:t>
            </a:r>
            <a:endParaRPr lang="en-US" sz="2685" b="1" spc="85">
              <a:solidFill>
                <a:srgbClr val="000000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pic>
        <p:nvPicPr>
          <p:cNvPr id="90" name="图片 89" descr="63a9b042c3645e7c0f007dff28fa9e6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0225" y="911225"/>
            <a:ext cx="1301750" cy="1301750"/>
          </a:xfrm>
          <a:prstGeom prst="rect">
            <a:avLst/>
          </a:prstGeom>
        </p:spPr>
      </p:pic>
      <p:sp>
        <p:nvSpPr>
          <p:cNvPr id="92" name="TextBox 63"/>
          <p:cNvSpPr txBox="1"/>
          <p:nvPr/>
        </p:nvSpPr>
        <p:spPr>
          <a:xfrm>
            <a:off x="713218" y="4221912"/>
            <a:ext cx="1646014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2023.0</a:t>
            </a:r>
            <a:r>
              <a:rPr lang="en-US" altLang="zh-CN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3</a:t>
            </a: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 -202</a:t>
            </a:r>
            <a:r>
              <a:rPr lang="en-US" altLang="zh-CN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4</a:t>
            </a: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.0</a:t>
            </a:r>
            <a:r>
              <a:rPr lang="en-US" altLang="zh-CN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5</a:t>
            </a:r>
            <a:endParaRPr lang="en-US" altLang="zh-CN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93" name="TextBox 64"/>
          <p:cNvSpPr txBox="1"/>
          <p:nvPr/>
        </p:nvSpPr>
        <p:spPr>
          <a:xfrm>
            <a:off x="2955290" y="4222115"/>
            <a:ext cx="2065020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195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宁波三更景观设计有限公司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94" name="TextBox 65"/>
          <p:cNvSpPr txBox="1"/>
          <p:nvPr/>
        </p:nvSpPr>
        <p:spPr>
          <a:xfrm>
            <a:off x="5389245" y="4222115"/>
            <a:ext cx="153352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195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项目助理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6110" y="4415155"/>
            <a:ext cx="6528435" cy="816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42570" lvl="1" indent="-121285" algn="l">
              <a:lnSpc>
                <a:spcPts val="1885"/>
              </a:lnSpc>
              <a:buFont typeface="Arial" panose="020B0604020202020204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协助完成项目---1.大徐江岸新屋景观改造。2.宁波大学校地合作项目①潘天寿建筑与艺术设计学院·袁马艺术创作基地②芸济无人机学院·袁马教育培训基地。3.袁马红色影院设计。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242570" lvl="1" indent="-121285" algn="l">
              <a:lnSpc>
                <a:spcPts val="1885"/>
              </a:lnSpc>
              <a:buFont typeface="Arial" panose="020B0604020202020204"/>
              <a:buChar char="•"/>
            </a:pPr>
            <a:endParaRPr lang="en-US" sz="11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6" name="Group 34"/>
          <p:cNvGrpSpPr/>
          <p:nvPr/>
        </p:nvGrpSpPr>
        <p:grpSpPr>
          <a:xfrm rot="0">
            <a:off x="663670" y="7770623"/>
            <a:ext cx="270696" cy="234817"/>
            <a:chOff x="0" y="0"/>
            <a:chExt cx="360928" cy="313089"/>
          </a:xfrm>
        </p:grpSpPr>
        <p:grpSp>
          <p:nvGrpSpPr>
            <p:cNvPr id="72" name="Group 35"/>
            <p:cNvGrpSpPr/>
            <p:nvPr/>
          </p:nvGrpSpPr>
          <p:grpSpPr>
            <a:xfrm rot="5400000">
              <a:off x="0" y="0"/>
              <a:ext cx="235352" cy="235352"/>
              <a:chOff x="0" y="0"/>
              <a:chExt cx="110403" cy="110403"/>
            </a:xfrm>
          </p:grpSpPr>
          <p:sp>
            <p:nvSpPr>
              <p:cNvPr id="73" name="Freeform 36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4" name="TextBox 37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  <p:grpSp>
          <p:nvGrpSpPr>
            <p:cNvPr id="75" name="Group 38"/>
            <p:cNvGrpSpPr/>
            <p:nvPr/>
          </p:nvGrpSpPr>
          <p:grpSpPr>
            <a:xfrm rot="5400000">
              <a:off x="125576" y="77738"/>
              <a:ext cx="235352" cy="235352"/>
              <a:chOff x="0" y="0"/>
              <a:chExt cx="110403" cy="110403"/>
            </a:xfrm>
          </p:grpSpPr>
          <p:sp>
            <p:nvSpPr>
              <p:cNvPr id="82" name="Freeform 39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6" name="TextBox 40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</p:grpSp>
      <p:sp>
        <p:nvSpPr>
          <p:cNvPr id="95" name="TextBox 61"/>
          <p:cNvSpPr txBox="1"/>
          <p:nvPr/>
        </p:nvSpPr>
        <p:spPr>
          <a:xfrm>
            <a:off x="1002438" y="7708724"/>
            <a:ext cx="1029210" cy="30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zh-CN" altLang="en-US" sz="1550" b="1" u="none" strike="noStrike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获奖</a:t>
            </a:r>
            <a:r>
              <a:rPr lang="zh-CN" altLang="en-US" sz="1550" b="1" u="none" strike="noStrike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经历</a:t>
            </a:r>
            <a:endParaRPr lang="zh-CN" altLang="en-US" sz="1550" b="1" u="none" strike="noStrike">
              <a:solidFill>
                <a:srgbClr val="000000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96" name="TextBox 66"/>
          <p:cNvSpPr txBox="1"/>
          <p:nvPr/>
        </p:nvSpPr>
        <p:spPr>
          <a:xfrm>
            <a:off x="1816501" y="7803693"/>
            <a:ext cx="2824644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Artifakt Element" panose="020B0503050000020004" charset="0"/>
                <a:ea typeface="Akzidenz-Grotesk" panose="02000503030000020003"/>
                <a:cs typeface="Artifakt Element" panose="020B0503050000020004" charset="0"/>
                <a:sym typeface="Akzidenz-Grotesk" panose="02000503030000020003"/>
              </a:rPr>
              <a:t>AWARDS &amp; HONORS</a:t>
            </a:r>
            <a:endParaRPr lang="en-US" sz="1000">
              <a:solidFill>
                <a:srgbClr val="000000"/>
              </a:solidFill>
              <a:latin typeface="Artifakt Element" panose="020B0503050000020004" charset="0"/>
              <a:ea typeface="Akzidenz-Grotesk" panose="02000503030000020003"/>
              <a:cs typeface="Artifakt Element" panose="020B0503050000020004" charset="0"/>
              <a:sym typeface="Akzidenz-Grotesk" panose="02000503030000020003"/>
            </a:endParaRPr>
          </a:p>
        </p:txBody>
      </p:sp>
      <p:sp>
        <p:nvSpPr>
          <p:cNvPr id="99" name="TextBox 71"/>
          <p:cNvSpPr txBox="1"/>
          <p:nvPr/>
        </p:nvSpPr>
        <p:spPr>
          <a:xfrm>
            <a:off x="825500" y="8234045"/>
            <a:ext cx="6164580" cy="8159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29845" indent="0" algn="l" rtl="0" eaLnBrk="0" fontAlgn="auto">
              <a:lnSpc>
                <a:spcPts val="1885"/>
              </a:lnSpc>
              <a:spcBef>
                <a:spcPts val="200"/>
              </a:spcBef>
            </a:pPr>
            <a:r>
              <a:rPr lang="zh-CN" altLang="en-US" sz="1000" b="1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竞赛奖项：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2024年第十九届浙江省大学生电子商务竟赛 浙江省二等奖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、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2023年浙江省乡村振兴大赛（文创组）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9845" indent="0" algn="l" rtl="0" eaLnBrk="0" fontAlgn="auto">
              <a:lnSpc>
                <a:spcPts val="1885"/>
              </a:lnSpc>
              <a:spcBef>
                <a:spcPts val="200"/>
              </a:spcBef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                      校级二等奖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、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2023年浙江省大学生广告艺术大赛 校级一等奖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、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2024年全国大学生健美操锦标赛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全</a:t>
            </a:r>
            <a:endParaRPr lang="zh-CN" alt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9845" indent="0" algn="l" rtl="0" eaLnBrk="0" fontAlgn="auto">
              <a:lnSpc>
                <a:spcPts val="1885"/>
              </a:lnSpc>
              <a:spcBef>
                <a:spcPts val="200"/>
              </a:spcBef>
            </a:pP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 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                     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国第二名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9845" indent="0" algn="l" rtl="0" eaLnBrk="0" fontAlgn="auto">
              <a:lnSpc>
                <a:spcPts val="1885"/>
              </a:lnSpc>
              <a:spcBef>
                <a:spcPts val="200"/>
              </a:spcBef>
            </a:pPr>
            <a:endParaRPr lang="zh-CN" altLang="en-US" sz="112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  <p:sp>
        <p:nvSpPr>
          <p:cNvPr id="8" name="TextBox 57"/>
          <p:cNvSpPr txBox="1"/>
          <p:nvPr/>
        </p:nvSpPr>
        <p:spPr>
          <a:xfrm>
            <a:off x="2794635" y="2484755"/>
            <a:ext cx="173164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武汉理工大学（硕士）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9" name="TextBox 56"/>
          <p:cNvSpPr txBox="1"/>
          <p:nvPr/>
        </p:nvSpPr>
        <p:spPr>
          <a:xfrm>
            <a:off x="712583" y="2469595"/>
            <a:ext cx="1646014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2026.09-2029.06</a:t>
            </a:r>
            <a:endParaRPr 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10" name="TextBox 58"/>
          <p:cNvSpPr txBox="1"/>
          <p:nvPr/>
        </p:nvSpPr>
        <p:spPr>
          <a:xfrm>
            <a:off x="4969721" y="2494280"/>
            <a:ext cx="41846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设计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11" name="TextBox 63"/>
          <p:cNvSpPr txBox="1"/>
          <p:nvPr/>
        </p:nvSpPr>
        <p:spPr>
          <a:xfrm>
            <a:off x="713218" y="6701587"/>
            <a:ext cx="1646014" cy="2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2026.07 -2026.08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12" name="TextBox 64"/>
          <p:cNvSpPr txBox="1"/>
          <p:nvPr/>
        </p:nvSpPr>
        <p:spPr>
          <a:xfrm>
            <a:off x="2955925" y="6701790"/>
            <a:ext cx="267017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湖北新文道时代教育科技有限公司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13" name="TextBox 65"/>
          <p:cNvSpPr txBox="1"/>
          <p:nvPr/>
        </p:nvSpPr>
        <p:spPr>
          <a:xfrm>
            <a:off x="5389880" y="6701790"/>
            <a:ext cx="1533525" cy="249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r">
              <a:lnSpc>
                <a:spcPts val="1950"/>
              </a:lnSpc>
            </a:pPr>
            <a:r>
              <a:rPr lang="zh-CN" altLang="en-US" sz="1200" b="1">
                <a:solidFill>
                  <a:srgbClr val="1E1E1E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Medium" panose="020B0600000000000000" charset="-122"/>
              </a:rPr>
              <a:t>班主任</a:t>
            </a: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6745" y="6894830"/>
            <a:ext cx="6449060" cy="816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42570" lvl="1" indent="-121285" algn="l">
              <a:lnSpc>
                <a:spcPts val="1885"/>
              </a:lnSpc>
              <a:buFont typeface="Arial" panose="020B0604020202020204"/>
              <a:buChar char="•"/>
            </a:pPr>
            <a:r>
              <a:rPr lang="zh-CN" altLang="en-US" sz="112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全程陪伴考生备考，日常监督学生每日学习状态，跟进复习进度，督促学习计划落地。及时关注学生情绪变化，开展心理疏导，缓解备考焦虑。主动倾听诉求，协助解决学习与生活各类难题，同步推送考研相关资讯，做好备考指引，扫清备考障碍，陪伴考生稳定复习节奏，安心备战考研。</a:t>
            </a:r>
            <a:endParaRPr lang="zh-CN" altLang="en-US" sz="112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948055" y="1337945"/>
            <a:ext cx="43332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947420" y="2223135"/>
            <a:ext cx="60375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948055" y="3086100"/>
            <a:ext cx="60350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62660" y="9377680"/>
            <a:ext cx="6021070" cy="1397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7" name="TextBox 62"/>
          <p:cNvSpPr txBox="1"/>
          <p:nvPr/>
        </p:nvSpPr>
        <p:spPr>
          <a:xfrm>
            <a:off x="839470" y="4948555"/>
            <a:ext cx="6219190" cy="9753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0" lvl="1" indent="0" algn="l">
              <a:lnSpc>
                <a:spcPts val="1885"/>
              </a:lnSpc>
              <a:buFont typeface="Arial" panose="020B0604020202020204"/>
              <a:buNone/>
            </a:pPr>
            <a:r>
              <a:rPr lang="zh-CN" altLang="en-US" sz="1120" b="1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主要工作：</a:t>
            </a:r>
            <a:endParaRPr lang="zh-CN" altLang="en-US" sz="1120" b="1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171450" lvl="1" indent="-171450" algn="l">
              <a:lnSpc>
                <a:spcPts val="1885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利用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Photoshop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以及lovart ai制图与制作展板与ppt页面用于投标、汇报设计与建模进度。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171450" lvl="1" indent="-171450" algn="l">
              <a:lnSpc>
                <a:spcPts val="1885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利用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Illustrator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整体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排版与统一展板色调，利用SketchUp和AutoCAD进行前期工程制图与场地建模。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0" lvl="1" indent="-121285" algn="l">
              <a:lnSpc>
                <a:spcPts val="1885"/>
              </a:lnSpc>
              <a:buFont typeface="Arial" panose="020B0604020202020204"/>
              <a:buChar char="•"/>
            </a:pP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利用Midjourney，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lovart ，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enscape，D5，进行渲染与效果图、视频制作。</a:t>
            </a:r>
            <a:endParaRPr 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0" lvl="1" indent="0" algn="l">
              <a:lnSpc>
                <a:spcPts val="1885"/>
              </a:lnSpc>
              <a:buFont typeface="Arial" panose="020B0604020202020204"/>
              <a:buNone/>
            </a:pP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" panose="020B0500000000000000" charset="-122"/>
            </a:endParaRPr>
          </a:p>
          <a:p>
            <a:pPr marL="121285" lvl="1" indent="-121285" algn="l">
              <a:lnSpc>
                <a:spcPts val="1885"/>
              </a:lnSpc>
              <a:buFont typeface="Arial" panose="020B0604020202020204"/>
              <a:buChar char="•"/>
            </a:pPr>
            <a:endParaRPr lang="zh-CN" altLang="en-US" sz="1200" b="1">
              <a:solidFill>
                <a:srgbClr val="1E1E1E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" panose="020B0500000000000000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>
            <a:off x="954405" y="8005445"/>
            <a:ext cx="602869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1" name="TextBox 71"/>
          <p:cNvSpPr txBox="1"/>
          <p:nvPr/>
        </p:nvSpPr>
        <p:spPr>
          <a:xfrm>
            <a:off x="802005" y="8017510"/>
            <a:ext cx="6164580" cy="8159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29845" indent="0" algn="l" rtl="0" eaLnBrk="0" fontAlgn="auto">
              <a:lnSpc>
                <a:spcPts val="1885"/>
              </a:lnSpc>
              <a:spcBef>
                <a:spcPts val="200"/>
              </a:spcBef>
            </a:pPr>
            <a:r>
              <a:rPr lang="zh-CN" altLang="en-US" sz="1000" b="1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在校荣誉：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省政府奖学金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、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校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三好学生、校优秀学生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干部</a:t>
            </a:r>
            <a:endParaRPr lang="zh-CN" alt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  <p:grpSp>
        <p:nvGrpSpPr>
          <p:cNvPr id="112" name="Group 34"/>
          <p:cNvGrpSpPr/>
          <p:nvPr/>
        </p:nvGrpSpPr>
        <p:grpSpPr>
          <a:xfrm rot="0">
            <a:off x="664305" y="9129523"/>
            <a:ext cx="270696" cy="234817"/>
            <a:chOff x="0" y="0"/>
            <a:chExt cx="360928" cy="313089"/>
          </a:xfrm>
        </p:grpSpPr>
        <p:grpSp>
          <p:nvGrpSpPr>
            <p:cNvPr id="113" name="Group 35"/>
            <p:cNvGrpSpPr/>
            <p:nvPr/>
          </p:nvGrpSpPr>
          <p:grpSpPr>
            <a:xfrm rot="5400000">
              <a:off x="0" y="0"/>
              <a:ext cx="235352" cy="235352"/>
              <a:chOff x="0" y="0"/>
              <a:chExt cx="110403" cy="110403"/>
            </a:xfrm>
          </p:grpSpPr>
          <p:sp>
            <p:nvSpPr>
              <p:cNvPr id="114" name="Freeform 36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15" name="TextBox 37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  <p:grpSp>
          <p:nvGrpSpPr>
            <p:cNvPr id="116" name="Group 38"/>
            <p:cNvGrpSpPr/>
            <p:nvPr/>
          </p:nvGrpSpPr>
          <p:grpSpPr>
            <a:xfrm rot="5400000">
              <a:off x="125576" y="77738"/>
              <a:ext cx="235352" cy="235352"/>
              <a:chOff x="0" y="0"/>
              <a:chExt cx="110403" cy="110403"/>
            </a:xfrm>
          </p:grpSpPr>
          <p:sp>
            <p:nvSpPr>
              <p:cNvPr id="117" name="Freeform 39"/>
              <p:cNvSpPr/>
              <p:nvPr/>
            </p:nvSpPr>
            <p:spPr>
              <a:xfrm>
                <a:off x="0" y="0"/>
                <a:ext cx="110403" cy="110403"/>
              </a:xfrm>
              <a:custGeom>
                <a:avLst/>
                <a:gdLst/>
                <a:ahLst/>
                <a:cxnLst/>
                <a:rect l="l" t="t" r="r" b="b"/>
                <a:pathLst>
                  <a:path w="110403" h="110403">
                    <a:moveTo>
                      <a:pt x="0" y="0"/>
                    </a:moveTo>
                    <a:lnTo>
                      <a:pt x="110403" y="0"/>
                    </a:lnTo>
                    <a:lnTo>
                      <a:pt x="110403" y="110403"/>
                    </a:lnTo>
                    <a:lnTo>
                      <a:pt x="0" y="1104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18" name="TextBox 40"/>
              <p:cNvSpPr txBox="1"/>
              <p:nvPr/>
            </p:nvSpPr>
            <p:spPr>
              <a:xfrm>
                <a:off x="0" y="-19050"/>
                <a:ext cx="110403" cy="129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0"/>
                  </a:lnSpc>
                </a:pPr>
              </a:p>
            </p:txBody>
          </p:sp>
        </p:grpSp>
      </p:grpSp>
      <p:sp>
        <p:nvSpPr>
          <p:cNvPr id="119" name="TextBox 61"/>
          <p:cNvSpPr txBox="1"/>
          <p:nvPr/>
        </p:nvSpPr>
        <p:spPr>
          <a:xfrm>
            <a:off x="1003300" y="9067800"/>
            <a:ext cx="813435" cy="30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zh-CN" altLang="en-US" sz="1550" b="1" u="none" strike="noStrike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专业</a:t>
            </a:r>
            <a:r>
              <a:rPr lang="zh-CN" altLang="en-US" sz="1550" b="1" u="none" strike="noStrike">
                <a:solidFill>
                  <a:srgbClr val="0000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技能</a:t>
            </a:r>
            <a:endParaRPr lang="zh-CN" altLang="en-US" sz="1550" b="1" u="none" strike="noStrike">
              <a:solidFill>
                <a:srgbClr val="000000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122" name="TextBox 62"/>
          <p:cNvSpPr txBox="1"/>
          <p:nvPr/>
        </p:nvSpPr>
        <p:spPr>
          <a:xfrm>
            <a:off x="843280" y="9390380"/>
            <a:ext cx="6219190" cy="9753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171450" lvl="1" indent="-171450" algn="l">
              <a:lnSpc>
                <a:spcPts val="1885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熟练掌握AutoCAD、SketchUp、Lumion/Enscape、Photoshop、Illustrator、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D5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等专业软件。</a:t>
            </a:r>
            <a:endParaRPr lang="zh-CN" alt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171450" lvl="1" indent="-171450" algn="l">
              <a:lnSpc>
                <a:spcPts val="1885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擅长使用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AI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辅助制图，例如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lovart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、</a:t>
            </a:r>
            <a:r>
              <a:rPr 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Midjourney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、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Chat GPT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、</a:t>
            </a:r>
            <a:r>
              <a:rPr lang="en-US" altLang="zh-CN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TapNow</a:t>
            </a: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等。</a:t>
            </a:r>
            <a:endParaRPr lang="zh-CN" alt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171450" lvl="1" indent="-171450" algn="l">
              <a:lnSpc>
                <a:spcPts val="1885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rgbClr val="1E1E1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具备从场地分析到方案落地的完整环艺项目经验，擅长将地域文化元素转译为空间设计语言，手绘与建模表现能力扎实。</a:t>
            </a:r>
            <a:endParaRPr lang="zh-CN" altLang="en-US" sz="1000">
              <a:solidFill>
                <a:srgbClr val="1E1E1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24" name="TextBox 76"/>
          <p:cNvSpPr txBox="1"/>
          <p:nvPr/>
        </p:nvSpPr>
        <p:spPr>
          <a:xfrm>
            <a:off x="1892701" y="3973268"/>
            <a:ext cx="2824644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0"/>
              </a:lnSpc>
              <a:spcBef>
                <a:spcPct val="0"/>
              </a:spcBef>
            </a:pPr>
            <a:r>
              <a:rPr lang="en-US" altLang="zh-CN" sz="1000">
                <a:solidFill>
                  <a:srgbClr val="000000"/>
                </a:solidFill>
                <a:latin typeface="Artifakt Element" panose="020B0503050000020004" charset="0"/>
                <a:ea typeface="Akzidenz-Grotesk" panose="02000503030000020003"/>
                <a:cs typeface="Artifakt Element" panose="020B0503050000020004" charset="0"/>
                <a:sym typeface="Akzidenz-Grotesk" panose="02000503030000020003"/>
              </a:rPr>
              <a:t>INTERNSHIP EXPERIENCE</a:t>
            </a:r>
            <a:endParaRPr lang="en-US" altLang="zh-CN" sz="1000">
              <a:solidFill>
                <a:srgbClr val="000000"/>
              </a:solidFill>
              <a:latin typeface="Artifakt Element" panose="020B0503050000020004" charset="0"/>
              <a:ea typeface="Akzidenz-Grotesk" panose="02000503030000020003"/>
              <a:cs typeface="Artifakt Element" panose="020B0503050000020004" charset="0"/>
              <a:sym typeface="Akzidenz-Grotesk" panose="02000503030000020003"/>
            </a:endParaRPr>
          </a:p>
        </p:txBody>
      </p:sp>
      <p:cxnSp>
        <p:nvCxnSpPr>
          <p:cNvPr id="125" name="直接连接符 124"/>
          <p:cNvCxnSpPr/>
          <p:nvPr/>
        </p:nvCxnSpPr>
        <p:spPr>
          <a:xfrm>
            <a:off x="962660" y="4195445"/>
            <a:ext cx="602043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Y1N2ZkYjA4YTc4NWRjM2RiNjAyZWE4YzcyMDY4Z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102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7" baseType="lpstr">
      <vt:lpstr>Arial</vt:lpstr>
      <vt:lpstr>宋体</vt:lpstr>
      <vt:lpstr>Wingdings</vt:lpstr>
      <vt:lpstr>思源黑体 Bold</vt:lpstr>
      <vt:lpstr>黑体</vt:lpstr>
      <vt:lpstr>思源黑体 Medium</vt:lpstr>
      <vt:lpstr>Artifakt Element</vt:lpstr>
      <vt:lpstr>Akzidenz-Grotesk</vt:lpstr>
      <vt:lpstr>Arial</vt:lpstr>
      <vt:lpstr>思源黑体</vt:lpstr>
      <vt:lpstr>KSOF4CF9F437</vt:lpstr>
      <vt:lpstr>AMGDT</vt:lpstr>
      <vt:lpstr>Calibri</vt:lpstr>
      <vt:lpstr>微软雅黑</vt:lpstr>
      <vt:lpstr>Arial Unicode MS</vt:lpstr>
      <vt:lpstr>DejaVu Math TeX Gyre</vt:lpstr>
      <vt:lpstr>Akzidenz-Grotesk</vt:lpstr>
      <vt:lpstr>思源黑体</vt:lpstr>
      <vt:lpstr>思源黑体 Bold</vt:lpstr>
      <vt:lpstr>思源黑体 Medium</vt:lpstr>
      <vt:lpstr>兰米黑体</vt:lpstr>
      <vt:lpstr>方正宝黑体 简 Medium</vt:lpstr>
      <vt:lpstr>Blues</vt:lpstr>
      <vt:lpstr>方正大黑体_GBK</vt:lpstr>
      <vt:lpstr>KSOF4CFA6896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黑色简约大气个人求职简历</dc:title>
  <dc:creator/>
  <cp:lastModifiedBy>画大饼儿</cp:lastModifiedBy>
  <cp:revision>14</cp:revision>
  <dcterms:created xsi:type="dcterms:W3CDTF">2006-08-16T00:00:00Z</dcterms:created>
  <dcterms:modified xsi:type="dcterms:W3CDTF">2026-10-19T09:06:28Z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{"Label":"1","ContentProducer":"001191110105MA01AN806X00000","ProduceID":"DAG89X6gxIQ","ReservedCode1":"","ContentPropagator":"001191110105MA01AN806X00000","PropagateID":"DAG89X6gxIQ","ReservedCode2":""}</vt:lpwstr>
  </property>
  <property fmtid="{D5CDD505-2E9C-101B-9397-08002B2CF9AE}" pid="3" name="ICV">
    <vt:lpwstr>5D32CC0F4DD742AEB1929BE291696F02_13</vt:lpwstr>
  </property>
  <property fmtid="{D5CDD505-2E9C-101B-9397-08002B2CF9AE}" pid="4" name="KSOProductBuildVer">
    <vt:lpwstr>2052-12.1.0.29161</vt:lpwstr>
  </property>
</Properties>
</file>